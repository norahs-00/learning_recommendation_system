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69" r:id="rId7"/>
    <p:sldId id="262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9" autoAdjust="0"/>
    <p:restoredTop sz="94660"/>
  </p:normalViewPr>
  <p:slideViewPr>
    <p:cSldViewPr snapToGrid="0" showGuides="1">
      <p:cViewPr varScale="1">
        <p:scale>
          <a:sx n="95" d="100"/>
          <a:sy n="95" d="100"/>
        </p:scale>
        <p:origin x="163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1/21/2026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1/21/2026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1/21/2026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1/21/2026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1/21/2026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1/21/2026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1/21/2026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1/21/2026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freeimage.host/i/fc7Fqqx" TargetMode="Externa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freeimage.host/i/fc7BOMu" TargetMode="Externa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615354" y="2350168"/>
            <a:ext cx="5384394" cy="1636295"/>
          </a:xfrm>
        </p:spPr>
        <p:txBody>
          <a:bodyPr anchor="ctr">
            <a:normAutofit fontScale="90000"/>
          </a:bodyPr>
          <a:lstStyle/>
          <a:p>
            <a:r>
              <a:rPr lang="en-GB" i="1" dirty="0"/>
              <a:t>Learning</a:t>
            </a:r>
            <a:br>
              <a:rPr lang="en-GB" i="1" dirty="0"/>
            </a:br>
            <a:r>
              <a:rPr lang="en-GB" i="1" dirty="0"/>
              <a:t>recommendation system</a:t>
            </a:r>
            <a:endParaRPr lang="en-US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73242" y="4106779"/>
            <a:ext cx="6365708" cy="1412481"/>
          </a:xfrm>
        </p:spPr>
        <p:txBody>
          <a:bodyPr/>
          <a:lstStyle/>
          <a:p>
            <a:r>
              <a:rPr lang="en-US" dirty="0"/>
              <a:t>Name: Sharon Gurung (23048933)</a:t>
            </a:r>
          </a:p>
          <a:p>
            <a:r>
              <a:rPr lang="en-US" dirty="0"/>
              <a:t>Module: Artificial Intelligence (CU6051NP) </a:t>
            </a:r>
          </a:p>
          <a:p>
            <a:r>
              <a:rPr lang="en-US" dirty="0"/>
              <a:t>Module Leader: Mr. Jeevan Prakash Panta </a:t>
            </a:r>
          </a:p>
          <a:p>
            <a:r>
              <a:rPr lang="en-US" dirty="0"/>
              <a:t>Date: 21</a:t>
            </a:r>
            <a:r>
              <a:rPr lang="en-US" baseline="30000" dirty="0"/>
              <a:t>st</a:t>
            </a:r>
            <a:r>
              <a:rPr lang="en-US" dirty="0"/>
              <a:t> January 2026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Placeholder 3" descr="Open book on table, blurred shelves of books in background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8F0FA7-77D7-0442-0465-2CC3A0A83E7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26910" cy="1097280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13C477-42DC-B73F-87CD-D4B9384950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2800" y="0"/>
            <a:ext cx="2489199" cy="10972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Content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493695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Synthesis of information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 code for the solution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Diagrammatical representations of the solution (flowcharts/state transition diagrams)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E3C4B-C45F-075A-E7A7-A13AE5B54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1EF1AB4-EF2B-43B0-78F6-B51585CB5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82" y="76200"/>
            <a:ext cx="9982200" cy="1070811"/>
          </a:xfrm>
        </p:spPr>
        <p:txBody>
          <a:bodyPr>
            <a:normAutofit/>
          </a:bodyPr>
          <a:lstStyle/>
          <a:p>
            <a:r>
              <a:rPr lang="en-GB" sz="4000" dirty="0"/>
              <a:t>Topic- </a:t>
            </a:r>
            <a:r>
              <a:rPr lang="en-US" sz="4000" dirty="0"/>
              <a:t>Explanation of the AI concepts used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2A54DEA-996B-69AF-AAEB-09B765D35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840" y="1600200"/>
            <a:ext cx="10335260" cy="493695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is used to help computers make intelligent decisions.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Machine Learning to recommend suitable online courses.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 algorithms predict whether a course should be recommended.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Logistic Regression -Simple and interpretable baseline model.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Decision Tree -Captures complex decision rules.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Random Forest - Improves accuracy by combining multiple trees.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groups similar courses using clustering techniques.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hybrid recommendation system combines both methods with gradient stacking classifiers.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improves accuracy, scalability, and recommendation quality.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785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Research Evidence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688" y="1590277"/>
            <a:ext cx="6015900" cy="50727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Research 1 (Tilahun &amp; Sekeroglu, 2020):</a:t>
            </a:r>
          </a:p>
          <a:p>
            <a:r>
              <a:rPr lang="en-US" sz="1200" dirty="0"/>
              <a:t>Developed an intelligent course advising system using AI.</a:t>
            </a:r>
          </a:p>
          <a:p>
            <a:r>
              <a:rPr lang="en-US" sz="1200" dirty="0"/>
              <a:t>Used rule-based and machine learning approaches for course selection.</a:t>
            </a:r>
          </a:p>
          <a:p>
            <a:r>
              <a:rPr lang="en-US" sz="1200" dirty="0"/>
              <a:t>Highlighted limitations of popularity-based recommendations.</a:t>
            </a:r>
          </a:p>
          <a:p>
            <a:pPr marL="0" indent="0">
              <a:buNone/>
            </a:pPr>
            <a:r>
              <a:rPr lang="en-US" b="1" dirty="0"/>
              <a:t>Research 2 (Islam &amp; Hosen, 2022):</a:t>
            </a:r>
          </a:p>
          <a:p>
            <a:r>
              <a:rPr lang="en-US" sz="1200" dirty="0"/>
              <a:t>Proposed a multi-model machine learning framework for course recommendation.</a:t>
            </a:r>
          </a:p>
          <a:p>
            <a:r>
              <a:rPr lang="en-US" sz="1200" dirty="0"/>
              <a:t>Found that </a:t>
            </a:r>
            <a:r>
              <a:rPr lang="en-US" sz="1200" b="1" dirty="0"/>
              <a:t>hybrid models outperform single algorithms</a:t>
            </a:r>
            <a:r>
              <a:rPr lang="en-US" sz="1200" dirty="0"/>
              <a:t>.</a:t>
            </a:r>
          </a:p>
          <a:p>
            <a:r>
              <a:rPr lang="en-US" sz="1200" dirty="0"/>
              <a:t>Emphasized scalability and accuracy in large educational datasets.</a:t>
            </a:r>
          </a:p>
          <a:p>
            <a:pPr marL="0" indent="0">
              <a:buNone/>
            </a:pPr>
            <a:r>
              <a:rPr lang="en-US" b="1" dirty="0"/>
              <a:t>Research 3 (Ren et al., 2022):</a:t>
            </a:r>
          </a:p>
          <a:p>
            <a:r>
              <a:rPr lang="en-US" sz="1200" dirty="0"/>
              <a:t>Introduced a deep learning-based hybrid recommendation system.</a:t>
            </a:r>
          </a:p>
          <a:p>
            <a:r>
              <a:rPr lang="en-US" sz="1200" dirty="0"/>
              <a:t>Combined supervised and unsupervised learning techniques.</a:t>
            </a:r>
          </a:p>
          <a:p>
            <a:r>
              <a:rPr lang="en-US" sz="1200" dirty="0"/>
              <a:t>Improved recommendation accuracy and diversity.</a:t>
            </a:r>
          </a:p>
          <a:p>
            <a:r>
              <a:rPr lang="en-US" sz="1200" dirty="0"/>
              <a:t>Identified challenges of complexity and high computational cost.</a:t>
            </a:r>
          </a:p>
          <a:p>
            <a:pPr marL="0" indent="0">
              <a:buNone/>
            </a:pPr>
            <a:endParaRPr lang="en-US" sz="120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94C8AD2-AB80-EDB1-403E-4FFE38A6329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588" y="1532021"/>
            <a:ext cx="4288560" cy="22357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C7EFD02-B384-03E1-865F-FF4EDC8DB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3333" y="4006567"/>
            <a:ext cx="1674288" cy="22938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CF7A344-AEE5-588A-4CD4-A6E9899AC9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084" y="4006567"/>
            <a:ext cx="2085160" cy="251972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F4281D4-4017-D784-470B-1BD09DC97AD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984"/>
          <a:stretch>
            <a:fillRect/>
          </a:stretch>
        </p:blipFill>
        <p:spPr>
          <a:xfrm>
            <a:off x="8531748" y="4006567"/>
            <a:ext cx="1743081" cy="25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49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DD7F2-376C-EB9C-93B2-46C64070F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32B5A52-B6A9-9793-38E2-B555977A2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82" y="76200"/>
            <a:ext cx="9982200" cy="1070811"/>
          </a:xfrm>
        </p:spPr>
        <p:txBody>
          <a:bodyPr>
            <a:normAutofit/>
          </a:bodyPr>
          <a:lstStyle/>
          <a:p>
            <a:r>
              <a:rPr lang="en-US" sz="4000" dirty="0"/>
              <a:t>Reason for Selection of the Topic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3F2BE-4432-1F1A-5006-72B3276BA9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4900" y="2018949"/>
            <a:ext cx="9827260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learning platforms offer thousands of courses, making selection difficult.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Learners often choose unsuitable courses, leading to low completion rates.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recommendation system focuses on popularity.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learners save time and choose relevant courses.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846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10118-5FE2-D3E4-4610-E0C8CB670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E0A0EE0-62AF-7EB7-03CB-0955F028F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00" y="528320"/>
            <a:ext cx="9946640" cy="558800"/>
          </a:xfrm>
        </p:spPr>
        <p:txBody>
          <a:bodyPr>
            <a:normAutofit fontScale="90000"/>
          </a:bodyPr>
          <a:lstStyle/>
          <a:p>
            <a:br>
              <a:rPr lang="en-US" sz="4000" dirty="0"/>
            </a:br>
            <a:r>
              <a:rPr lang="en-US" sz="4000" dirty="0"/>
              <a:t>Solution-Explanation of the Solution and Developed Application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97C6E39-014E-60A0-FA24-B191364F1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600" y="1330960"/>
            <a:ext cx="8351520" cy="56286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Data Preprocessing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Coursera course dataset is used as input.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records and missing values are removed.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features are encoded.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features are normalized using StandardScaler.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Model Selection and Training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is split into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80% training and 20% testing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models used: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Regression, Decision Tree and Random Forest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predict whether a course should be recommended or not.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Unsupervised Learning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 is applied where similar courses are grouped based on features.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Hybrid Recommendation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predictions and clustering results are combined.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943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9D20B-0B6E-2419-FE91-1C8B70C91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Achieved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A24F0-C4EF-3D86-BCAA-65E4BEDC00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provides baseline performance.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handles complex data patterns better.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achieves the highest accuracy.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hybrid model gives stable and reliable predictions.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relevance is improved using multiple models.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6119EA-51EF-6FC7-A5EB-781CEAC71A4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1" y="1498971"/>
            <a:ext cx="2105526" cy="23865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3B546D-A930-30F8-D4E1-353B87F9F7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6176" y="1519375"/>
            <a:ext cx="1926532" cy="22750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3C58B3-239C-6CF4-42E1-A4A06CD767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4008656"/>
            <a:ext cx="2476818" cy="13783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8CF5E7-1CAF-08E2-4FFD-0C0376E26A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3099" y="3925541"/>
            <a:ext cx="2242483" cy="15489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17CF78-F2AA-DC04-B453-F2BE4B88D2D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9389" y="1519375"/>
            <a:ext cx="1735429" cy="145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953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B818D-1C82-16D3-344D-075DCF7B5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0DAE2-9E60-7020-96B2-77E5637FF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Solves Real-World Problems?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AE9AF-176A-2F8E-74ED-8CA8BEB3A4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2254" y="1896979"/>
            <a:ext cx="9723186" cy="457199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information overload for learners.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select relevant courses quickly.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learning satisfaction and engagement.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without detailed learner history.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large online learning platforms.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scalable and intelligent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2572506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4231E-19DA-4483-A746-CAE660674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2AEB5-4D01-DD2A-8E8B-9145D8237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Synthesis of Information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44FD754-6325-3B0A-503D-F27C8841A9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6668" y="1997839"/>
            <a:ext cx="850745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Load Coursera course dataset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 data: remove duplicates, handle missing values, encode categorical features,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ormalize numerical features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Split dataset into 80% training and 20% testing sets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 supervised models: Logistic Regression, Decision Tree, Random Forest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 supervised models using accuracy and precision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 K-Means clustering to group similar courses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 supervised predictions and clustering results using hybrid approach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Match learner preferences with ranked courses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Top-N recommended courses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5F9EAE0-D654-0AA9-5EC7-715F91279F6A}"/>
              </a:ext>
            </a:extLst>
          </p:cNvPr>
          <p:cNvSpPr txBox="1">
            <a:spLocks/>
          </p:cNvSpPr>
          <p:nvPr/>
        </p:nvSpPr>
        <p:spPr>
          <a:xfrm>
            <a:off x="1267460" y="1554480"/>
            <a:ext cx="9384300" cy="443358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PseudoCode</a:t>
            </a:r>
            <a:r>
              <a:rPr lang="en-US" dirty="0"/>
              <a:t> of Solution</a:t>
            </a:r>
          </a:p>
        </p:txBody>
      </p:sp>
    </p:spTree>
    <p:extLst>
      <p:ext uri="{BB962C8B-B14F-4D97-AF65-F5344CB8AC3E}">
        <p14:creationId xmlns:p14="http://schemas.microsoft.com/office/powerpoint/2010/main" val="112090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359C4-048F-ED91-1CBF-C323A38E6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Diagrammatical representation of the solution (Flowchart)</a:t>
            </a:r>
            <a:endParaRPr lang="en-US" dirty="0"/>
          </a:p>
        </p:txBody>
      </p:sp>
      <p:pic>
        <p:nvPicPr>
          <p:cNvPr id="5" name="Content Placeholder 4">
            <a:hlinkClick r:id="rId2"/>
            <a:extLst>
              <a:ext uri="{FF2B5EF4-FFF2-40B4-BE49-F238E27FC236}">
                <a16:creationId xmlns:a16="http://schemas.microsoft.com/office/drawing/2014/main" id="{3AD26917-45FF-975A-D6E0-6212737D8E7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3653" y="1691640"/>
            <a:ext cx="1872113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52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24574-DAA7-6971-60DB-B1D3AA20A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16C3B-F927-C50B-844D-5FFEA9650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" y="116840"/>
            <a:ext cx="11968480" cy="1096962"/>
          </a:xfrm>
        </p:spPr>
        <p:txBody>
          <a:bodyPr/>
          <a:lstStyle/>
          <a:p>
            <a:r>
              <a:rPr lang="en-US" altLang="en-US" b="1" dirty="0"/>
              <a:t>Diagrammatical representation of the solution (State Transition Diagram)</a:t>
            </a:r>
            <a:endParaRPr lang="en-US" dirty="0"/>
          </a:p>
        </p:txBody>
      </p:sp>
      <p:pic>
        <p:nvPicPr>
          <p:cNvPr id="6" name="Picture 5">
            <a:hlinkClick r:id="rId2"/>
            <a:extLst>
              <a:ext uri="{FF2B5EF4-FFF2-40B4-BE49-F238E27FC236}">
                <a16:creationId xmlns:a16="http://schemas.microsoft.com/office/drawing/2014/main" id="{09ACEF19-09C8-10F2-6FF5-5A437A90DE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799" y="2778760"/>
            <a:ext cx="7119749" cy="229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30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2531C-3B2C-6E52-BECF-6B55B137C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44592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167</TotalTime>
  <Words>641</Words>
  <Application>Microsoft Office PowerPoint</Application>
  <PresentationFormat>Widescreen</PresentationFormat>
  <Paragraphs>89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Euphemia</vt:lpstr>
      <vt:lpstr>Plantagenet Cherokee</vt:lpstr>
      <vt:lpstr>Times New Roman</vt:lpstr>
      <vt:lpstr>Wingdings</vt:lpstr>
      <vt:lpstr>Academic Literature 16x9</vt:lpstr>
      <vt:lpstr>Learning recommendation system</vt:lpstr>
      <vt:lpstr>Content</vt:lpstr>
      <vt:lpstr>Topic- Explanation of the AI concepts used</vt:lpstr>
      <vt:lpstr>Research Evidence </vt:lpstr>
      <vt:lpstr>Reason for Selection of the Topic</vt:lpstr>
      <vt:lpstr> Solution-Explanation of the Solution and Developed Application</vt:lpstr>
      <vt:lpstr>Achieved Results</vt:lpstr>
      <vt:lpstr>How It Solves Real-World Problems? </vt:lpstr>
      <vt:lpstr>Synthesis of Information</vt:lpstr>
      <vt:lpstr>Diagrammatical representation of the solution (Flowchart)</vt:lpstr>
      <vt:lpstr>Diagrammatical representation of the solution (State Transition Diagram)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Sharon Gurung</dc:creator>
  <cp:lastModifiedBy>Sharon Gurung</cp:lastModifiedBy>
  <cp:revision>13</cp:revision>
  <dcterms:created xsi:type="dcterms:W3CDTF">2026-01-20T21:53:18Z</dcterms:created>
  <dcterms:modified xsi:type="dcterms:W3CDTF">2026-01-21T00:46:15Z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